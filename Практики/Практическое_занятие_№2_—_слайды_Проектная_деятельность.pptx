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Рисунок 10" descr="Изображение выглядит как желтый, снимок экрана&#10;&#10;Контент, сгенерированный ИИ, может содержать ошибки."/>
          <p:cNvPicPr/>
          <p:nvPr/>
        </p:nvPicPr>
        <p:blipFill>
          <a:blip r:embed="rId2"/>
          <a:srcRect l="0" t="61331" r="22993" b="13145"/>
          <a:stretch/>
        </p:blipFill>
        <p:spPr>
          <a:xfrm rot="10800000">
            <a:off x="12240" y="0"/>
            <a:ext cx="12124440" cy="651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Овал 11"/>
          <p:cNvSpPr/>
          <p:nvPr/>
        </p:nvSpPr>
        <p:spPr>
          <a:xfrm>
            <a:off x="8768160" y="-1361520"/>
            <a:ext cx="4557600" cy="4478760"/>
          </a:xfrm>
          <a:prstGeom prst="ellipse">
            <a:avLst/>
          </a:prstGeom>
          <a:noFill/>
          <a:ln w="25400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" name="Овал 12"/>
          <p:cNvSpPr/>
          <p:nvPr/>
        </p:nvSpPr>
        <p:spPr>
          <a:xfrm>
            <a:off x="7618320" y="1686600"/>
            <a:ext cx="1014120" cy="993960"/>
          </a:xfrm>
          <a:prstGeom prst="ellipse">
            <a:avLst/>
          </a:prstGeom>
          <a:noFill/>
          <a:ln w="25400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" name="Овал 13"/>
          <p:cNvSpPr/>
          <p:nvPr/>
        </p:nvSpPr>
        <p:spPr>
          <a:xfrm>
            <a:off x="8776800" y="2895480"/>
            <a:ext cx="729720" cy="739800"/>
          </a:xfrm>
          <a:prstGeom prst="ellipse">
            <a:avLst/>
          </a:prstGeom>
          <a:noFill/>
          <a:ln w="25400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" name="Рисунок 14" descr="Изображение выглядит как текст, Шрифт, Графика, логотип&#10;&#10;Контент, сгенерированный ИИ, может содержать ошибки."/>
          <p:cNvPicPr/>
          <p:nvPr/>
        </p:nvPicPr>
        <p:blipFill>
          <a:blip r:embed="rId3"/>
          <a:stretch/>
        </p:blipFill>
        <p:spPr>
          <a:xfrm>
            <a:off x="9370800" y="-12960"/>
            <a:ext cx="2761920" cy="219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Рисунок 6" descr="Изображение выглядит как желтый, снимок экрана&#10;&#10;Контент, сгенерированный ИИ, может содержать ошибки."/>
          <p:cNvPicPr/>
          <p:nvPr/>
        </p:nvPicPr>
        <p:blipFill>
          <a:blip r:embed="rId2"/>
          <a:srcRect l="21175" t="61331" r="22993" b="13145"/>
          <a:stretch/>
        </p:blipFill>
        <p:spPr>
          <a:xfrm rot="16200000">
            <a:off x="6222960" y="890640"/>
            <a:ext cx="6856200" cy="507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Рисунок 7" descr="Изображение выглядит как текст, Шрифт, Графика, логотип&#10;&#10;Контент, сгенерированный ИИ, может содержать ошибки."/>
          <p:cNvPicPr/>
          <p:nvPr/>
        </p:nvPicPr>
        <p:blipFill>
          <a:blip r:embed="rId3"/>
          <a:stretch/>
        </p:blipFill>
        <p:spPr>
          <a:xfrm>
            <a:off x="0" y="0"/>
            <a:ext cx="2250720" cy="178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Овал 8"/>
          <p:cNvSpPr/>
          <p:nvPr/>
        </p:nvSpPr>
        <p:spPr>
          <a:xfrm>
            <a:off x="11135520" y="5770800"/>
            <a:ext cx="1356120" cy="1319040"/>
          </a:xfrm>
          <a:prstGeom prst="ellipse">
            <a:avLst/>
          </a:prstGeom>
          <a:noFill/>
          <a:ln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" name="Овал 9"/>
          <p:cNvSpPr/>
          <p:nvPr/>
        </p:nvSpPr>
        <p:spPr>
          <a:xfrm>
            <a:off x="10122840" y="5919120"/>
            <a:ext cx="709560" cy="702000"/>
          </a:xfrm>
          <a:prstGeom prst="ellipse">
            <a:avLst/>
          </a:prstGeom>
          <a:noFill/>
          <a:ln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30" name="Прямая соединительная линия 10"/>
          <p:cNvCxnSpPr/>
          <p:nvPr/>
        </p:nvCxnSpPr>
        <p:spPr>
          <a:xfrm>
            <a:off x="2391120" y="1636200"/>
            <a:ext cx="7550640" cy="1800"/>
          </a:xfrm>
          <a:prstGeom prst="straightConnector1">
            <a:avLst/>
          </a:prstGeom>
          <a:ln w="25400">
            <a:solidFill>
              <a:srgbClr val="A6A6A6"/>
            </a:solidFill>
            <a:round/>
          </a:ln>
        </p:spPr>
      </p:cxnSp>
      <p:sp>
        <p:nvSpPr>
          <p:cNvPr id="31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3"/>
          <p:cNvSpPr/>
          <p:nvPr/>
        </p:nvSpPr>
        <p:spPr>
          <a:xfrm>
            <a:off x="431640" y="2748240"/>
            <a:ext cx="11342160" cy="21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Проектная деятельность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Практика №2. Анализ рынка и аналогов. Видение продукта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4"/>
          <p:cNvSpPr/>
          <p:nvPr/>
        </p:nvSpPr>
        <p:spPr>
          <a:xfrm>
            <a:off x="106560" y="96480"/>
            <a:ext cx="6673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Open Sans"/>
                <a:ea typeface="Open Sans"/>
              </a:rPr>
              <a:t>Кафедра индустриального программирования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1"/>
          <p:cNvSpPr/>
          <p:nvPr/>
        </p:nvSpPr>
        <p:spPr>
          <a:xfrm>
            <a:off x="6500880" y="507960"/>
            <a:ext cx="34988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Материалы для работы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60000" y="2160000"/>
            <a:ext cx="8458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Материалы занятия — по ссылке в канале группы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36600" y="3109680"/>
            <a:ext cx="10462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К работе допускаются команды, заполнившие бланк В.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5"/>
          <p:cNvSpPr/>
          <p:nvPr/>
        </p:nvSpPr>
        <p:spPr>
          <a:xfrm>
            <a:off x="3530520" y="3600000"/>
            <a:ext cx="30744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ВРЕМЯ ОТМЕТИТЬСЯ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11379960" y="6478560"/>
            <a:ext cx="325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60000" y="2160000"/>
            <a:ext cx="8458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4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Часть А. Анализ рынка и аналогов: как задачу пользователя решают уже сейчас.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Часть Б. Видение продукта: для кого, зачем, какая ценность, где границы.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Порядок не меняем: видение, написанное до анализа аналогов, часто описывает продукт, который уже существует.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Результат — документ «Видение продукта». </a:t>
            </a:r>
            <a:br>
              <a:rPr sz="2000"/>
            </a:b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С ним работаем на ПЗ №3 (Use Case).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Не успели на паре — материалы в телеграм до практики №3.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2779920" y="511920"/>
            <a:ext cx="7223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Две части занятия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5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1. Описать ситуацию и проблему одним абзацем.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2. Реестр аналогов: 2 прямых, 1 косвенный, текущий способ, 1 референс.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  У каждого — источник и дата просмотра. Ищем и открытый код.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3. Критерии по семи группам и сравнение аналогов фактами.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4. Сильные и слабые стороны: что применимо к нам, что не берём.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2779920" y="511920"/>
            <a:ext cx="7223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Часть А. Задача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6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Какую проблему решаем? У кого? В какой ситуации?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Как пользователь решает её сейчас? Какие недостатки?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Что произойдёт, если не решать?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[Группа пользователей] сталкивается с [проблемой] в ситуации [контекст]. Сейчас проблема решается с помощью [способ], однако это приводит к [недостатки].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Кто пользователь — уже есть в карточке темы с ПЗ №1.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2779920" y="511920"/>
            <a:ext cx="7223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Ситуация и проблема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Прямой — та же задача, та же аудитория, тот же способ.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Косвенный — та же потребность, другой способ или аудитория.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Референс — не конкурент, но есть что взять: интерфейс, механика.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Проект «доставка еды из столовой вуза»: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прямой — доставка из столовой другого вуза;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косвенный — «Яндекс Еда», вендинг, предзаказ в Telegram;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референс — выбор времени из записи к врачу, трекинг из такси.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Текущий способ без программы — обязательная строка.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2779920" y="511920"/>
            <a:ext cx="7223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Три типа аналогов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8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Группы: функциональность, пользовательский сценарий, данные и интеграции, качество системы, ограничения и риски, ценность для пользователя, свой критерий.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В каждой группе — конкретный признак для вашего продукта.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Не «удобство», а «сколько шагов до оформления заказа».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В ячейках — факты, не оценки. Пометка у строки: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«проверено» — попробовали сами; «по описанию» — с сайта.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2779920" y="511920"/>
            <a:ext cx="7223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Критерии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9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По каждому аналогу: сильные стороны, слабые стороны, что применимо к нам, что не берём или проверяем.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Слабые стороны, общие для нескольких аналогов, — место нашего продукта и ключевое отличие в видении.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«Что не берём» — в колонку «не входит» границ продукта.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«У конкурента есть — сделаем и мы» — не аргумент.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2779920" y="511920"/>
            <a:ext cx="7223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Сильные и слабые стороны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Участники: основной и вторичный пользователь, заказчик, другие стороны.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Полезное изменение и 2–4 ценности.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3–5 целей и как проверить их достижение.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Границы: входит / не входит (справа не менее 5 пунктов).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Как выводы анализа повлияли на продукт.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Видение по шаблону и самопроверка.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Обмен: другая команда задаёт 3 вопроса, записываем ответы.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2779920" y="511920"/>
            <a:ext cx="72230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Задача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11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Ценность — изменение для человека. Функция — действие системы.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Ценность объясняется без перечисления функций.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Цель — желаемое изменение, а не процесс разработки.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Не «разработать сайт», «создать базу данных».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А «сократить время поиска информации», «уменьшить число ручных операций».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У каждой цели — как проверить. Нет числа — «не установлено».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2779920" y="511920"/>
            <a:ext cx="7223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Ценность, функция, цель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12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Входит — задачи, которые система решает.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Не входит — задачи из предметной области, которые сознательно не решаем.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Во второй колонке не меньше пяти пунктов.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Она защищает от бесконечного расширения функций и от разного понимания проекта в команде.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Сейчас границы — на уровне назначения системы.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Архитектурная граница — позже на других практиках.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2779920" y="511920"/>
            <a:ext cx="7223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Границы продукта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13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Для [пользователи], которые сталкиваются с [проблема],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создаётся [продукт], позволяющий [основная ценность].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В отличие от [аналоги и текущий способ],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продукт [ключевое отличие].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Основная цель продукта — [ожидаемый результат].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Затем — связный текст из 3–6 предложений.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«У конкурента есть — сделаем и мы» — не аргумент.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2779920" y="511920"/>
            <a:ext cx="7223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Шаблон видения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14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Понятно, кто основной пользователь?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Проблема сформулирована явно?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Пользу можно объяснить без функций?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Понятно, какой результат даст продукт?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Понятно, что входит и что не входит?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Использованы выводы анализа аналогов?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Технологии и архитектура не выбраны раньше времени?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Из границ следует, что результат — программная система?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2779920" y="511920"/>
            <a:ext cx="7223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Самопроверка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16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Реестр: 5+ позиций с источником и датой, включая референс и текущий способ.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Критерии по группам; сравнение фактами; сильные и слабые стороны.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Представлено итоговое видение продукта.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Определены проблема, пользователь и ценность; ценность — не функция.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У каждой цели указано, как проверить достижение.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Определены границы; в «не входит» не менее пяти пунктов.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— Решения аргументированы; вопросы другой команды записаны.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ВАЖНО: при сдаче указывать состав команды и ответственного.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2779920" y="511920"/>
            <a:ext cx="7223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Работа выполнена, если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6"/>
          <p:cNvSpPr/>
          <p:nvPr/>
        </p:nvSpPr>
        <p:spPr>
          <a:xfrm>
            <a:off x="11379960" y="6478560"/>
            <a:ext cx="598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17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65760" y="2103120"/>
            <a:ext cx="102405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1. Доделать и прислать в телеграм до практики №3.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2. Лично проверить строки «по описанию» хотя бы у двух аналогов.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3. Три вопроса пользователю или заказчику: задать хотя бы одному, ответы записать дословно.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4. Выписать, что пользователи будут делать с продуктом: глагол и объект. Это заготовка Use Case к ПЗ №3.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2779920" y="511920"/>
            <a:ext cx="7223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21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Arial"/>
              </a:rPr>
              <a:t>К следующему занятию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3"/>
          <p:cNvSpPr/>
          <p:nvPr/>
        </p:nvSpPr>
        <p:spPr>
          <a:xfrm>
            <a:off x="431640" y="2748240"/>
            <a:ext cx="113421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Open Sans"/>
                <a:ea typeface="Open Sans"/>
              </a:rPr>
              <a:t>Проектная деятельность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4"/>
          <p:cNvSpPr/>
          <p:nvPr/>
        </p:nvSpPr>
        <p:spPr>
          <a:xfrm>
            <a:off x="106560" y="96480"/>
            <a:ext cx="6673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Arial Black"/>
                <a:ea typeface="Arial"/>
              </a:rPr>
              <a:t>Кафедра индустриального программирования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"/>
          <p:cNvSpPr/>
          <p:nvPr/>
        </p:nvSpPr>
        <p:spPr>
          <a:xfrm>
            <a:off x="431640" y="4201560"/>
            <a:ext cx="1134216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6000" b="0" u="none" strike="noStrike">
                <a:solidFill>
                  <a:srgbClr val="A57C2A"/>
                </a:solidFill>
                <a:effectLst/>
                <a:uFillTx/>
                <a:latin typeface="Open Sans"/>
                <a:ea typeface="Open Sans"/>
              </a:rPr>
              <a:t>Спасибо за совместную работу!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itchFamily="0" charset="1"/>
        <a:ea typeface="Arial" pitchFamily="0" charset="1"/>
        <a:cs typeface="Arial" pitchFamily="0" charset="1"/>
      </a:majorFont>
      <a:minorFont>
        <a:latin typeface="Aptos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LibreOffice/26.2.1.2$Windows_X86_64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2025-04-22T19:59:08Z</dcterms:created>
  <dc:creator>p.grosheva@yandex.ru</dc:creator>
  <dc:description/>
  <dc:language>ru-RU</dc:language>
  <cp:lastModifiedBy/>
  <dcterms:modified xsi:type="dcterms:W3CDTF">2026-09-21T11:03:27Z</dcterms:modified>
  <cp:revision>17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7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7</vt:i4>
  </property>
</Properties>
</file>